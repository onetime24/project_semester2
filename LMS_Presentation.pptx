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Default Extension="fntdata" ContentType="application/x-fontdata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media/image1.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9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_rels/notesSlide8.xml.rels" ContentType="application/vnd.openxmlformats-package.relationships+xml"/>
  <Override PartName="/ppt/notesSlides/_rels/notesSlide7.xml.rels" ContentType="application/vnd.openxmlformats-package.relationships+xml"/>
  <Override PartName="/ppt/notesSlides/_rels/notesSlide6.xml.rels" ContentType="application/vnd.openxmlformats-package.relationships+xml"/>
  <Override PartName="/ppt/notesSlides/_rels/notesSlide5.xml.rels" ContentType="application/vnd.openxmlformats-package.relationships+xml"/>
  <Override PartName="/ppt/notesSlides/_rels/notesSlide3.xml.rels" ContentType="application/vnd.openxmlformats-package.relationships+xml"/>
  <Override PartName="/ppt/notesSlides/_rels/notesSlide2.xml.rels" ContentType="application/vnd.openxmlformats-package.relationships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9144000" cy="5143500"/>
  <p:notesSz cx="51435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9076C8BC-151D-4129-B518-81CC7B7100B1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7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BF975D8F-6A57-4F1B-BD46-E052C3B1D5CF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D56895-9D02-440D-94B1-AC4A781B9A5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3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4811B3-65FD-43AC-AAC6-6B619A3BA4F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F9F623-DE2B-46EF-9094-926102C63F9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85E0B6C-2D81-4D93-9ECD-24521462DA50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2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2A797D3-ED94-4DAE-9E71-CE6385CD31B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5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E02CDB19-1051-41AE-865C-CC4A0C28991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8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B5CE6DD-A892-4C4F-8C5B-2F635698C3D1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1"/>
          <p:cNvSpPr/>
          <p:nvPr/>
        </p:nvSpPr>
        <p:spPr>
          <a:xfrm>
            <a:off x="0" y="0"/>
            <a:ext cx="164160" cy="51433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" name="Shape 2"/>
          <p:cNvSpPr/>
          <p:nvPr/>
        </p:nvSpPr>
        <p:spPr>
          <a:xfrm>
            <a:off x="0" y="4572000"/>
            <a:ext cx="9143640" cy="5713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3"/>
          <p:cNvSpPr/>
          <p:nvPr/>
        </p:nvSpPr>
        <p:spPr>
          <a:xfrm>
            <a:off x="421200" y="548640"/>
            <a:ext cx="8229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8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CoreLMS-Learning Management System</a:t>
            </a:r>
            <a:endParaRPr b="0" lang="en-US" sz="3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4"/>
          <p:cNvSpPr/>
          <p:nvPr/>
        </p:nvSpPr>
        <p:spPr>
          <a:xfrm>
            <a:off x="457200" y="1417320"/>
            <a:ext cx="82292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2600" strike="noStrike" u="non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with Plagiarism Detection Engine</a:t>
            </a:r>
            <a:endParaRPr b="0" lang="en-US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Shape 5"/>
          <p:cNvSpPr/>
          <p:nvPr/>
        </p:nvSpPr>
        <p:spPr>
          <a:xfrm>
            <a:off x="457200" y="2240280"/>
            <a:ext cx="3200040" cy="453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720" bIns="72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" name="Text 6"/>
          <p:cNvSpPr/>
          <p:nvPr/>
        </p:nvSpPr>
        <p:spPr>
          <a:xfrm>
            <a:off x="457200" y="242316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OOP Final Project  |  </a:t>
            </a:r>
            <a:r>
              <a:rPr b="0" lang="en-US" sz="1400" strike="noStrike" u="none">
                <a:solidFill>
                  <a:srgbClr val="f59e0b"/>
                </a:solidFill>
                <a:effectLst/>
                <a:uFillTx/>
                <a:latin typeface="Calibri"/>
                <a:ea typeface="Calibri"/>
              </a:rPr>
              <a:t>C++ | Modular Architecture | File-Based Persistence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Shape 7"/>
          <p:cNvSpPr/>
          <p:nvPr/>
        </p:nvSpPr>
        <p:spPr>
          <a:xfrm>
            <a:off x="457200" y="3200400"/>
            <a:ext cx="1919880" cy="411120"/>
          </a:xfrm>
          <a:prstGeom prst="roundRect">
            <a:avLst>
              <a:gd name="adj" fmla="val 17778"/>
            </a:avLst>
          </a:prstGeom>
          <a:solidFill>
            <a:srgbClr val="1b2a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8"/>
          <p:cNvSpPr/>
          <p:nvPr/>
        </p:nvSpPr>
        <p:spPr>
          <a:xfrm>
            <a:off x="457200" y="3200400"/>
            <a:ext cx="1919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Multi-Role Auth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9"/>
          <p:cNvSpPr/>
          <p:nvPr/>
        </p:nvSpPr>
        <p:spPr>
          <a:xfrm>
            <a:off x="2560320" y="3200400"/>
            <a:ext cx="1919880" cy="411120"/>
          </a:xfrm>
          <a:prstGeom prst="roundRect">
            <a:avLst>
              <a:gd name="adj" fmla="val 17778"/>
            </a:avLst>
          </a:prstGeom>
          <a:solidFill>
            <a:srgbClr val="1b2a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10"/>
          <p:cNvSpPr/>
          <p:nvPr/>
        </p:nvSpPr>
        <p:spPr>
          <a:xfrm>
            <a:off x="2560320" y="3200400"/>
            <a:ext cx="1919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Course Management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Shape 11"/>
          <p:cNvSpPr/>
          <p:nvPr/>
        </p:nvSpPr>
        <p:spPr>
          <a:xfrm>
            <a:off x="4663440" y="3200400"/>
            <a:ext cx="1919880" cy="411120"/>
          </a:xfrm>
          <a:prstGeom prst="roundRect">
            <a:avLst>
              <a:gd name="adj" fmla="val 17778"/>
            </a:avLst>
          </a:prstGeom>
          <a:solidFill>
            <a:srgbClr val="1b2a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12"/>
          <p:cNvSpPr/>
          <p:nvPr/>
        </p:nvSpPr>
        <p:spPr>
          <a:xfrm>
            <a:off x="4663440" y="3200400"/>
            <a:ext cx="1919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Plagiarism Engine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Shape 13"/>
          <p:cNvSpPr/>
          <p:nvPr/>
        </p:nvSpPr>
        <p:spPr>
          <a:xfrm>
            <a:off x="6766560" y="3200400"/>
            <a:ext cx="1919880" cy="411120"/>
          </a:xfrm>
          <a:prstGeom prst="roundRect">
            <a:avLst>
              <a:gd name="adj" fmla="val 17778"/>
            </a:avLst>
          </a:prstGeom>
          <a:solidFill>
            <a:srgbClr val="1b2a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4" name="Text 14"/>
          <p:cNvSpPr/>
          <p:nvPr/>
        </p:nvSpPr>
        <p:spPr>
          <a:xfrm>
            <a:off x="6766560" y="3200400"/>
            <a:ext cx="191988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File Submissions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5"/>
          <p:cNvSpPr/>
          <p:nvPr/>
        </p:nvSpPr>
        <p:spPr>
          <a:xfrm>
            <a:off x="457200" y="461772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FAST NUCES Peshawar  •  C++  •  OOP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1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2"/>
          <p:cNvSpPr/>
          <p:nvPr/>
        </p:nvSpPr>
        <p:spPr>
          <a:xfrm>
            <a:off x="457200" y="730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Project Overview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Shape 3"/>
          <p:cNvSpPr/>
          <p:nvPr/>
        </p:nvSpPr>
        <p:spPr>
          <a:xfrm>
            <a:off x="320040" y="822960"/>
            <a:ext cx="3840120" cy="3931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Shape 4"/>
          <p:cNvSpPr/>
          <p:nvPr/>
        </p:nvSpPr>
        <p:spPr>
          <a:xfrm>
            <a:off x="320040" y="822960"/>
            <a:ext cx="3840120" cy="4111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5"/>
          <p:cNvSpPr/>
          <p:nvPr/>
        </p:nvSpPr>
        <p:spPr>
          <a:xfrm>
            <a:off x="320040" y="82296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What Is It?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" name="Text 6"/>
          <p:cNvSpPr/>
          <p:nvPr/>
        </p:nvSpPr>
        <p:spPr>
          <a:xfrm>
            <a:off x="457200" y="1325880"/>
            <a:ext cx="3565800" cy="33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A terminal-based LMS built in C++ that manages the full academic lifecycle: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 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• Three user roles: Admin, Teacher, Student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• Course creation &amp; enrollment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• Assignment posting &amp; submission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• Grading &amp; feedback system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• Announcement broadcasts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• Query/answer between students &amp; teachers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• Built-in plagiarism engine for submissions</a:t>
            </a:r>
            <a:endParaRPr b="0" lang="en-US" sz="12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Shape 7"/>
          <p:cNvSpPr/>
          <p:nvPr/>
        </p:nvSpPr>
        <p:spPr>
          <a:xfrm>
            <a:off x="4983480" y="822960"/>
            <a:ext cx="3840120" cy="393156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Shape 8"/>
          <p:cNvSpPr/>
          <p:nvPr/>
        </p:nvSpPr>
        <p:spPr>
          <a:xfrm>
            <a:off x="4983480" y="822960"/>
            <a:ext cx="3840120" cy="41112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5" name="Text 9"/>
          <p:cNvSpPr/>
          <p:nvPr/>
        </p:nvSpPr>
        <p:spPr>
          <a:xfrm>
            <a:off x="4983480" y="822960"/>
            <a:ext cx="384012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Tech &amp; Concepts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Shape 10"/>
          <p:cNvSpPr/>
          <p:nvPr/>
        </p:nvSpPr>
        <p:spPr>
          <a:xfrm>
            <a:off x="5120640" y="1371600"/>
            <a:ext cx="3565800" cy="29232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11"/>
          <p:cNvSpPr/>
          <p:nvPr/>
        </p:nvSpPr>
        <p:spPr>
          <a:xfrm>
            <a:off x="5166360" y="137160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Language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2"/>
          <p:cNvSpPr/>
          <p:nvPr/>
        </p:nvSpPr>
        <p:spPr>
          <a:xfrm>
            <a:off x="6766560" y="137160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C++17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Shape 13"/>
          <p:cNvSpPr/>
          <p:nvPr/>
        </p:nvSpPr>
        <p:spPr>
          <a:xfrm>
            <a:off x="5120640" y="1700640"/>
            <a:ext cx="3565800" cy="292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Text 14"/>
          <p:cNvSpPr/>
          <p:nvPr/>
        </p:nvSpPr>
        <p:spPr>
          <a:xfrm>
            <a:off x="5166360" y="170064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Paradigm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5"/>
          <p:cNvSpPr/>
          <p:nvPr/>
        </p:nvSpPr>
        <p:spPr>
          <a:xfrm>
            <a:off x="6766560" y="170064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OOP + Procedural (C)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Shape 16"/>
          <p:cNvSpPr/>
          <p:nvPr/>
        </p:nvSpPr>
        <p:spPr>
          <a:xfrm>
            <a:off x="5120640" y="2030040"/>
            <a:ext cx="3565800" cy="29232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Text 17"/>
          <p:cNvSpPr/>
          <p:nvPr/>
        </p:nvSpPr>
        <p:spPr>
          <a:xfrm>
            <a:off x="5166360" y="203004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Persistence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8"/>
          <p:cNvSpPr/>
          <p:nvPr/>
        </p:nvSpPr>
        <p:spPr>
          <a:xfrm>
            <a:off x="6766560" y="203004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File I/O (.txt)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Shape 19"/>
          <p:cNvSpPr/>
          <p:nvPr/>
        </p:nvSpPr>
        <p:spPr>
          <a:xfrm>
            <a:off x="5120640" y="2359080"/>
            <a:ext cx="3565800" cy="292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20"/>
          <p:cNvSpPr/>
          <p:nvPr/>
        </p:nvSpPr>
        <p:spPr>
          <a:xfrm>
            <a:off x="5166360" y="235908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Arch. Pattern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21"/>
          <p:cNvSpPr/>
          <p:nvPr/>
        </p:nvSpPr>
        <p:spPr>
          <a:xfrm>
            <a:off x="6766560" y="235908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Modular (auth, user, pleg)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Shape 22"/>
          <p:cNvSpPr/>
          <p:nvPr/>
        </p:nvSpPr>
        <p:spPr>
          <a:xfrm>
            <a:off x="5120640" y="2688480"/>
            <a:ext cx="3565800" cy="29232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23"/>
          <p:cNvSpPr/>
          <p:nvPr/>
        </p:nvSpPr>
        <p:spPr>
          <a:xfrm>
            <a:off x="5166360" y="268848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C ↔ C++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24"/>
          <p:cNvSpPr/>
          <p:nvPr/>
        </p:nvSpPr>
        <p:spPr>
          <a:xfrm>
            <a:off x="6766560" y="268848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extern "C" linkage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25"/>
          <p:cNvSpPr/>
          <p:nvPr/>
        </p:nvSpPr>
        <p:spPr>
          <a:xfrm>
            <a:off x="5120640" y="3017520"/>
            <a:ext cx="3565800" cy="292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26"/>
          <p:cNvSpPr/>
          <p:nvPr/>
        </p:nvSpPr>
        <p:spPr>
          <a:xfrm>
            <a:off x="5166360" y="301752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Plag Algorithm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7"/>
          <p:cNvSpPr/>
          <p:nvPr/>
        </p:nvSpPr>
        <p:spPr>
          <a:xfrm>
            <a:off x="6766560" y="301752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N-gram + Dice Similarity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28"/>
          <p:cNvSpPr/>
          <p:nvPr/>
        </p:nvSpPr>
        <p:spPr>
          <a:xfrm>
            <a:off x="5120640" y="3346560"/>
            <a:ext cx="3565800" cy="29232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9"/>
          <p:cNvSpPr/>
          <p:nvPr/>
        </p:nvSpPr>
        <p:spPr>
          <a:xfrm>
            <a:off x="5166360" y="334656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UI Picker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0"/>
          <p:cNvSpPr/>
          <p:nvPr/>
        </p:nvSpPr>
        <p:spPr>
          <a:xfrm>
            <a:off x="6766560" y="334656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zenity (Linux GUI)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31"/>
          <p:cNvSpPr/>
          <p:nvPr/>
        </p:nvSpPr>
        <p:spPr>
          <a:xfrm>
            <a:off x="5120640" y="3675960"/>
            <a:ext cx="3565800" cy="29232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32"/>
          <p:cNvSpPr/>
          <p:nvPr/>
        </p:nvSpPr>
        <p:spPr>
          <a:xfrm>
            <a:off x="5166360" y="3675960"/>
            <a:ext cx="155412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File Support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33"/>
          <p:cNvSpPr/>
          <p:nvPr/>
        </p:nvSpPr>
        <p:spPr>
          <a:xfrm>
            <a:off x="6766560" y="3675960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txt, pdf, docx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Shape 1"/>
          <p:cNvSpPr/>
          <p:nvPr/>
        </p:nvSpPr>
        <p:spPr>
          <a:xfrm>
            <a:off x="0" y="0"/>
            <a:ext cx="9143640" cy="63972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457200" y="730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System Architecture &amp; Module Structure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3"/>
          <p:cNvSpPr/>
          <p:nvPr/>
        </p:nvSpPr>
        <p:spPr>
          <a:xfrm>
            <a:off x="3474720" y="777240"/>
            <a:ext cx="2194200" cy="63972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4"/>
          <p:cNvSpPr/>
          <p:nvPr/>
        </p:nvSpPr>
        <p:spPr>
          <a:xfrm>
            <a:off x="3474720" y="777240"/>
            <a:ext cx="21942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main.cpp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5"/>
          <p:cNvSpPr/>
          <p:nvPr/>
        </p:nvSpPr>
        <p:spPr>
          <a:xfrm>
            <a:off x="3474720" y="1110240"/>
            <a:ext cx="21942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Entry Point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Shape 6"/>
          <p:cNvSpPr/>
          <p:nvPr/>
        </p:nvSpPr>
        <p:spPr>
          <a:xfrm>
            <a:off x="3474720" y="1691640"/>
            <a:ext cx="2194200" cy="639720"/>
          </a:xfrm>
          <a:prstGeom prst="rect">
            <a:avLst/>
          </a:prstGeom>
          <a:solidFill>
            <a:srgbClr val="0d9488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7"/>
          <p:cNvSpPr/>
          <p:nvPr/>
        </p:nvSpPr>
        <p:spPr>
          <a:xfrm>
            <a:off x="3474720" y="1691640"/>
            <a:ext cx="2194200" cy="332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auth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8"/>
          <p:cNvSpPr/>
          <p:nvPr/>
        </p:nvSpPr>
        <p:spPr>
          <a:xfrm>
            <a:off x="3474720" y="2024640"/>
            <a:ext cx="21942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Login &amp; User Factory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Shape 9"/>
          <p:cNvSpPr/>
          <p:nvPr/>
        </p:nvSpPr>
        <p:spPr>
          <a:xfrm>
            <a:off x="4572000" y="1417320"/>
            <a:ext cx="360" cy="274320"/>
          </a:xfrm>
          <a:prstGeom prst="line">
            <a:avLst/>
          </a:prstGeom>
          <a:ln w="254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10"/>
          <p:cNvSpPr/>
          <p:nvPr/>
        </p:nvSpPr>
        <p:spPr>
          <a:xfrm>
            <a:off x="320040" y="2834640"/>
            <a:ext cx="2377080" cy="68544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11"/>
          <p:cNvSpPr/>
          <p:nvPr/>
        </p:nvSpPr>
        <p:spPr>
          <a:xfrm>
            <a:off x="320040" y="2834640"/>
            <a:ext cx="23770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Admin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12"/>
          <p:cNvSpPr/>
          <p:nvPr/>
        </p:nvSpPr>
        <p:spPr>
          <a:xfrm>
            <a:off x="320040" y="319140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addUser / addCourse / assign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Shape 13"/>
          <p:cNvSpPr/>
          <p:nvPr/>
        </p:nvSpPr>
        <p:spPr>
          <a:xfrm>
            <a:off x="3383280" y="2834640"/>
            <a:ext cx="2377080" cy="685440"/>
          </a:xfrm>
          <a:prstGeom prst="rect">
            <a:avLst/>
          </a:prstGeom>
          <a:solidFill>
            <a:srgbClr val="1b2a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14"/>
          <p:cNvSpPr/>
          <p:nvPr/>
        </p:nvSpPr>
        <p:spPr>
          <a:xfrm>
            <a:off x="3383280" y="2834640"/>
            <a:ext cx="23770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Teacher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15"/>
          <p:cNvSpPr/>
          <p:nvPr/>
        </p:nvSpPr>
        <p:spPr>
          <a:xfrm>
            <a:off x="3383280" y="319140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assignments / grade / queries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Shape 16"/>
          <p:cNvSpPr/>
          <p:nvPr/>
        </p:nvSpPr>
        <p:spPr>
          <a:xfrm>
            <a:off x="6446520" y="2834640"/>
            <a:ext cx="2377080" cy="685440"/>
          </a:xfrm>
          <a:prstGeom prst="rect">
            <a:avLst/>
          </a:prstGeom>
          <a:solidFill>
            <a:srgbClr val="0d9488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7"/>
          <p:cNvSpPr/>
          <p:nvPr/>
        </p:nvSpPr>
        <p:spPr>
          <a:xfrm>
            <a:off x="6446520" y="2834640"/>
            <a:ext cx="23770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Student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8"/>
          <p:cNvSpPr/>
          <p:nvPr/>
        </p:nvSpPr>
        <p:spPr>
          <a:xfrm>
            <a:off x="6446520" y="319140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enroll / submit / viewResults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Shape 19"/>
          <p:cNvSpPr/>
          <p:nvPr/>
        </p:nvSpPr>
        <p:spPr>
          <a:xfrm>
            <a:off x="4572000" y="2331720"/>
            <a:ext cx="360" cy="320040"/>
          </a:xfrm>
          <a:prstGeom prst="line">
            <a:avLst/>
          </a:prstGeom>
          <a:ln w="190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Shape 20"/>
          <p:cNvSpPr/>
          <p:nvPr/>
        </p:nvSpPr>
        <p:spPr>
          <a:xfrm>
            <a:off x="1508760" y="2651760"/>
            <a:ext cx="3063240" cy="360"/>
          </a:xfrm>
          <a:prstGeom prst="line">
            <a:avLst/>
          </a:prstGeom>
          <a:ln w="190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Shape 21"/>
          <p:cNvSpPr/>
          <p:nvPr/>
        </p:nvSpPr>
        <p:spPr>
          <a:xfrm>
            <a:off x="4572000" y="2651760"/>
            <a:ext cx="360" cy="182880"/>
          </a:xfrm>
          <a:prstGeom prst="line">
            <a:avLst/>
          </a:prstGeom>
          <a:ln w="190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Shape 22"/>
          <p:cNvSpPr/>
          <p:nvPr/>
        </p:nvSpPr>
        <p:spPr>
          <a:xfrm>
            <a:off x="4572000" y="2651760"/>
            <a:ext cx="3063240" cy="360"/>
          </a:xfrm>
          <a:prstGeom prst="line">
            <a:avLst/>
          </a:prstGeom>
          <a:ln w="1905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23"/>
          <p:cNvSpPr/>
          <p:nvPr/>
        </p:nvSpPr>
        <p:spPr>
          <a:xfrm>
            <a:off x="3474720" y="3886200"/>
            <a:ext cx="2194200" cy="822600"/>
          </a:xfrm>
          <a:prstGeom prst="rect">
            <a:avLst/>
          </a:prstGeom>
          <a:solidFill>
            <a:srgbClr val="f59e0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24"/>
          <p:cNvSpPr/>
          <p:nvPr/>
        </p:nvSpPr>
        <p:spPr>
          <a:xfrm>
            <a:off x="3474720" y="3886200"/>
            <a:ext cx="2194200" cy="42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Plagiarism Engine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5"/>
          <p:cNvSpPr/>
          <p:nvPr/>
        </p:nvSpPr>
        <p:spPr>
          <a:xfrm>
            <a:off x="3474720" y="4314240"/>
            <a:ext cx="219420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input.c + logic.c (C)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plageng.cpp (C++ wrapper)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26"/>
          <p:cNvSpPr/>
          <p:nvPr/>
        </p:nvSpPr>
        <p:spPr>
          <a:xfrm>
            <a:off x="4572000" y="3520440"/>
            <a:ext cx="360" cy="365760"/>
          </a:xfrm>
          <a:prstGeom prst="line">
            <a:avLst/>
          </a:prstGeom>
          <a:ln w="19050">
            <a:solidFill>
              <a:srgbClr val="f59e0b"/>
            </a:solidFill>
            <a:prstDash val="dash"/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Shape 27"/>
          <p:cNvSpPr/>
          <p:nvPr/>
        </p:nvSpPr>
        <p:spPr>
          <a:xfrm>
            <a:off x="320040" y="3931920"/>
            <a:ext cx="2377080" cy="685440"/>
          </a:xfrm>
          <a:prstGeom prst="rect">
            <a:avLst/>
          </a:prstGeom>
          <a:solidFill>
            <a:srgbClr val="f1f5f9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28"/>
          <p:cNvSpPr/>
          <p:nvPr/>
        </p:nvSpPr>
        <p:spPr>
          <a:xfrm>
            <a:off x="320040" y="3931920"/>
            <a:ext cx="23770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data/ Files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29"/>
          <p:cNvSpPr/>
          <p:nvPr/>
        </p:nvSpPr>
        <p:spPr>
          <a:xfrm>
            <a:off x="320040" y="428868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users.txt • course.txt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enrollments.txt • submission.txt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Shape 30"/>
          <p:cNvSpPr/>
          <p:nvPr/>
        </p:nvSpPr>
        <p:spPr>
          <a:xfrm>
            <a:off x="1508760" y="3520440"/>
            <a:ext cx="360" cy="411480"/>
          </a:xfrm>
          <a:prstGeom prst="line">
            <a:avLst/>
          </a:prstGeom>
          <a:ln w="190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Shape 31"/>
          <p:cNvSpPr/>
          <p:nvPr/>
        </p:nvSpPr>
        <p:spPr>
          <a:xfrm>
            <a:off x="6446520" y="3931920"/>
            <a:ext cx="2377080" cy="685440"/>
          </a:xfrm>
          <a:prstGeom prst="rect">
            <a:avLst/>
          </a:prstGeom>
          <a:solidFill>
            <a:srgbClr val="e2e8f0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32"/>
          <p:cNvSpPr/>
          <p:nvPr/>
        </p:nvSpPr>
        <p:spPr>
          <a:xfrm>
            <a:off x="6446520" y="3931920"/>
            <a:ext cx="2377080" cy="356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b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User (Abstract)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33"/>
          <p:cNvSpPr/>
          <p:nvPr/>
        </p:nvSpPr>
        <p:spPr>
          <a:xfrm>
            <a:off x="6446520" y="4288680"/>
            <a:ext cx="2377080" cy="32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Base class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virtual menu()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" name="Shape 34"/>
          <p:cNvSpPr/>
          <p:nvPr/>
        </p:nvSpPr>
        <p:spPr>
          <a:xfrm>
            <a:off x="7635240" y="3520440"/>
            <a:ext cx="360" cy="411480"/>
          </a:xfrm>
          <a:prstGeom prst="line">
            <a:avLst/>
          </a:prstGeom>
          <a:ln w="19050">
            <a:solidFill>
              <a:srgbClr val="64748b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" descr=""/>
          <p:cNvPicPr/>
          <p:nvPr/>
        </p:nvPicPr>
        <p:blipFill>
          <a:blip r:embed="rId1"/>
          <a:stretch/>
        </p:blipFill>
        <p:spPr>
          <a:xfrm>
            <a:off x="1600200" y="5400"/>
            <a:ext cx="5257800" cy="5143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"/>
          <p:cNvSpPr/>
          <p:nvPr/>
        </p:nvSpPr>
        <p:spPr>
          <a:xfrm>
            <a:off x="457200" y="73080"/>
            <a:ext cx="82292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OOP Concepts Applied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Shape 2"/>
          <p:cNvSpPr/>
          <p:nvPr/>
        </p:nvSpPr>
        <p:spPr>
          <a:xfrm>
            <a:off x="274320" y="777240"/>
            <a:ext cx="2742840" cy="1828440"/>
          </a:xfrm>
          <a:prstGeom prst="rect">
            <a:avLst/>
          </a:prstGeom>
          <a:solidFill>
            <a:srgbClr val="1b2a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Shape 3"/>
          <p:cNvSpPr/>
          <p:nvPr/>
        </p:nvSpPr>
        <p:spPr>
          <a:xfrm>
            <a:off x="274320" y="777240"/>
            <a:ext cx="2742840" cy="38376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4"/>
          <p:cNvSpPr/>
          <p:nvPr/>
        </p:nvSpPr>
        <p:spPr>
          <a:xfrm>
            <a:off x="274320" y="77724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▲  Inheritance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5"/>
          <p:cNvSpPr/>
          <p:nvPr/>
        </p:nvSpPr>
        <p:spPr>
          <a:xfrm>
            <a:off x="384120" y="1234440"/>
            <a:ext cx="252324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Admin, Teacher, Student all inherit from User (base class). Shared attributes: username, password, role. Each subclass specializes menu().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6"/>
          <p:cNvSpPr/>
          <p:nvPr/>
        </p:nvSpPr>
        <p:spPr>
          <a:xfrm>
            <a:off x="3200400" y="777240"/>
            <a:ext cx="2742840" cy="1828440"/>
          </a:xfrm>
          <a:prstGeom prst="rect">
            <a:avLst/>
          </a:prstGeom>
          <a:solidFill>
            <a:srgbClr val="1b2a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3" name="Shape 7"/>
          <p:cNvSpPr/>
          <p:nvPr/>
        </p:nvSpPr>
        <p:spPr>
          <a:xfrm>
            <a:off x="3200400" y="777240"/>
            <a:ext cx="2742840" cy="383760"/>
          </a:xfrm>
          <a:prstGeom prst="rect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8"/>
          <p:cNvSpPr/>
          <p:nvPr/>
        </p:nvSpPr>
        <p:spPr>
          <a:xfrm>
            <a:off x="3200400" y="77724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◆  Polymorphism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9"/>
          <p:cNvSpPr/>
          <p:nvPr/>
        </p:nvSpPr>
        <p:spPr>
          <a:xfrm>
            <a:off x="3310200" y="1234440"/>
            <a:ext cx="252324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User declares menu() as a pure virtual function. auth::login() returns User*, and the correct derived class menu() is dispatched at runtime.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Shape 10"/>
          <p:cNvSpPr/>
          <p:nvPr/>
        </p:nvSpPr>
        <p:spPr>
          <a:xfrm>
            <a:off x="6126480" y="777240"/>
            <a:ext cx="2742840" cy="1828440"/>
          </a:xfrm>
          <a:prstGeom prst="rect">
            <a:avLst/>
          </a:prstGeom>
          <a:solidFill>
            <a:srgbClr val="1b2a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Shape 11"/>
          <p:cNvSpPr/>
          <p:nvPr/>
        </p:nvSpPr>
        <p:spPr>
          <a:xfrm>
            <a:off x="6126480" y="777240"/>
            <a:ext cx="2742840" cy="38376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12"/>
          <p:cNvSpPr/>
          <p:nvPr/>
        </p:nvSpPr>
        <p:spPr>
          <a:xfrm>
            <a:off x="6126480" y="77724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■  Encapsulation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3"/>
          <p:cNvSpPr/>
          <p:nvPr/>
        </p:nvSpPr>
        <p:spPr>
          <a:xfrm>
            <a:off x="6236280" y="1234440"/>
            <a:ext cx="252324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Private member data (courseid, username) exposed only via public getters. Menu methods are private, callable only from within the class.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Shape 14"/>
          <p:cNvSpPr/>
          <p:nvPr/>
        </p:nvSpPr>
        <p:spPr>
          <a:xfrm>
            <a:off x="274320" y="2788920"/>
            <a:ext cx="2742840" cy="1828440"/>
          </a:xfrm>
          <a:prstGeom prst="rect">
            <a:avLst/>
          </a:prstGeom>
          <a:solidFill>
            <a:srgbClr val="1b2a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1" name="Shape 15"/>
          <p:cNvSpPr/>
          <p:nvPr/>
        </p:nvSpPr>
        <p:spPr>
          <a:xfrm>
            <a:off x="274320" y="2788920"/>
            <a:ext cx="2742840" cy="383760"/>
          </a:xfrm>
          <a:prstGeom prst="rect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6"/>
          <p:cNvSpPr/>
          <p:nvPr/>
        </p:nvSpPr>
        <p:spPr>
          <a:xfrm>
            <a:off x="274320" y="278892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●  Abstraction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7"/>
          <p:cNvSpPr/>
          <p:nvPr/>
        </p:nvSpPr>
        <p:spPr>
          <a:xfrm>
            <a:off x="384120" y="3246120"/>
            <a:ext cx="252324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The User class is abstract (cannot be instantiated). Forces all subclasses to implement menu(). auth acts as a factory hiding object creation.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Shape 18"/>
          <p:cNvSpPr/>
          <p:nvPr/>
        </p:nvSpPr>
        <p:spPr>
          <a:xfrm>
            <a:off x="3200400" y="2788920"/>
            <a:ext cx="2742840" cy="1828440"/>
          </a:xfrm>
          <a:prstGeom prst="rect">
            <a:avLst/>
          </a:prstGeom>
          <a:solidFill>
            <a:srgbClr val="1b2a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Shape 19"/>
          <p:cNvSpPr/>
          <p:nvPr/>
        </p:nvSpPr>
        <p:spPr>
          <a:xfrm>
            <a:off x="3200400" y="2788920"/>
            <a:ext cx="2742840" cy="383760"/>
          </a:xfrm>
          <a:prstGeom prst="rect">
            <a:avLst/>
          </a:prstGeom>
          <a:solidFill>
            <a:srgbClr val="84cc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20"/>
          <p:cNvSpPr/>
          <p:nvPr/>
        </p:nvSpPr>
        <p:spPr>
          <a:xfrm>
            <a:off x="3200400" y="278892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⟩  C ↔ C++ Link.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1"/>
          <p:cNvSpPr/>
          <p:nvPr/>
        </p:nvSpPr>
        <p:spPr>
          <a:xfrm>
            <a:off x="3310200" y="3246120"/>
            <a:ext cx="252324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Plagiarism engine written in C (input.c, logic.c). Wrapped by plageng.cpp using extern "C" to expose C functions safely into C++ code.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22"/>
          <p:cNvSpPr/>
          <p:nvPr/>
        </p:nvSpPr>
        <p:spPr>
          <a:xfrm>
            <a:off x="6126480" y="2788920"/>
            <a:ext cx="2742840" cy="1828440"/>
          </a:xfrm>
          <a:prstGeom prst="rect">
            <a:avLst/>
          </a:prstGeom>
          <a:solidFill>
            <a:srgbClr val="1b2a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9" name="Shape 23"/>
          <p:cNvSpPr/>
          <p:nvPr/>
        </p:nvSpPr>
        <p:spPr>
          <a:xfrm>
            <a:off x="6126480" y="2788920"/>
            <a:ext cx="2742840" cy="383760"/>
          </a:xfrm>
          <a:prstGeom prst="rect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24"/>
          <p:cNvSpPr/>
          <p:nvPr/>
        </p:nvSpPr>
        <p:spPr>
          <a:xfrm>
            <a:off x="6126480" y="2788920"/>
            <a:ext cx="274284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⊕  Static Methods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25"/>
          <p:cNvSpPr/>
          <p:nvPr/>
        </p:nvSpPr>
        <p:spPr>
          <a:xfrm>
            <a:off x="6236280" y="3246120"/>
            <a:ext cx="2523240" cy="1298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auth class uses only static methods (init, login, adduser) — no instantiation needed. Clean utility-class pattern.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Shape 1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2"/>
          <p:cNvSpPr/>
          <p:nvPr/>
        </p:nvSpPr>
        <p:spPr>
          <a:xfrm>
            <a:off x="457200" y="64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Plagiarism Detection Engine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Shape 3"/>
          <p:cNvSpPr/>
          <p:nvPr/>
        </p:nvSpPr>
        <p:spPr>
          <a:xfrm>
            <a:off x="320040" y="777240"/>
            <a:ext cx="2651400" cy="1782720"/>
          </a:xfrm>
          <a:prstGeom prst="rect">
            <a:avLst/>
          </a:prstGeom>
          <a:solidFill>
            <a:srgbClr val="1b2a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Shape 4"/>
          <p:cNvSpPr/>
          <p:nvPr/>
        </p:nvSpPr>
        <p:spPr>
          <a:xfrm>
            <a:off x="1325880" y="850320"/>
            <a:ext cx="639720" cy="63972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5"/>
          <p:cNvSpPr/>
          <p:nvPr/>
        </p:nvSpPr>
        <p:spPr>
          <a:xfrm>
            <a:off x="1325880" y="8503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6"/>
          <p:cNvSpPr/>
          <p:nvPr/>
        </p:nvSpPr>
        <p:spPr>
          <a:xfrm>
            <a:off x="320040" y="155448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File Input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7"/>
          <p:cNvSpPr/>
          <p:nvPr/>
        </p:nvSpPr>
        <p:spPr>
          <a:xfrm>
            <a:off x="411480" y="1920240"/>
            <a:ext cx="2468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Accepts .txt, .pdf, .docx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pdftotext / docx2txt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conversion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Shape 8"/>
          <p:cNvSpPr/>
          <p:nvPr/>
        </p:nvSpPr>
        <p:spPr>
          <a:xfrm>
            <a:off x="2971800" y="1663920"/>
            <a:ext cx="274320" cy="360"/>
          </a:xfrm>
          <a:prstGeom prst="line">
            <a:avLst/>
          </a:prstGeom>
          <a:ln w="254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1" name="Shape 9"/>
          <p:cNvSpPr/>
          <p:nvPr/>
        </p:nvSpPr>
        <p:spPr>
          <a:xfrm>
            <a:off x="3246120" y="777240"/>
            <a:ext cx="2651400" cy="1782720"/>
          </a:xfrm>
          <a:prstGeom prst="rect">
            <a:avLst/>
          </a:prstGeom>
          <a:solidFill>
            <a:srgbClr val="1b2a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Shape 10"/>
          <p:cNvSpPr/>
          <p:nvPr/>
        </p:nvSpPr>
        <p:spPr>
          <a:xfrm>
            <a:off x="4251960" y="850320"/>
            <a:ext cx="639720" cy="639720"/>
          </a:xfrm>
          <a:prstGeom prst="ellipse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11"/>
          <p:cNvSpPr/>
          <p:nvPr/>
        </p:nvSpPr>
        <p:spPr>
          <a:xfrm>
            <a:off x="4251960" y="8503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Text 12"/>
          <p:cNvSpPr/>
          <p:nvPr/>
        </p:nvSpPr>
        <p:spPr>
          <a:xfrm>
            <a:off x="3246120" y="155448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Text Extraction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13"/>
          <p:cNvSpPr/>
          <p:nvPr/>
        </p:nvSpPr>
        <p:spPr>
          <a:xfrm>
            <a:off x="3337560" y="1920240"/>
            <a:ext cx="2468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read_f() reads content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into heap memory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buffer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Shape 14"/>
          <p:cNvSpPr/>
          <p:nvPr/>
        </p:nvSpPr>
        <p:spPr>
          <a:xfrm>
            <a:off x="5897880" y="1663920"/>
            <a:ext cx="274320" cy="360"/>
          </a:xfrm>
          <a:prstGeom prst="line">
            <a:avLst/>
          </a:prstGeom>
          <a:ln w="254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Shape 15"/>
          <p:cNvSpPr/>
          <p:nvPr/>
        </p:nvSpPr>
        <p:spPr>
          <a:xfrm>
            <a:off x="6172200" y="777240"/>
            <a:ext cx="2651400" cy="1782720"/>
          </a:xfrm>
          <a:prstGeom prst="rect">
            <a:avLst/>
          </a:prstGeom>
          <a:solidFill>
            <a:srgbClr val="1b2a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8" name="Shape 16"/>
          <p:cNvSpPr/>
          <p:nvPr/>
        </p:nvSpPr>
        <p:spPr>
          <a:xfrm>
            <a:off x="7178040" y="850320"/>
            <a:ext cx="639720" cy="639720"/>
          </a:xfrm>
          <a:prstGeom prst="ellipse">
            <a:avLst/>
          </a:prstGeom>
          <a:solidFill>
            <a:srgbClr val="ec489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17"/>
          <p:cNvSpPr/>
          <p:nvPr/>
        </p:nvSpPr>
        <p:spPr>
          <a:xfrm>
            <a:off x="7178040" y="85032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18"/>
          <p:cNvSpPr/>
          <p:nvPr/>
        </p:nvSpPr>
        <p:spPr>
          <a:xfrm>
            <a:off x="6172200" y="155448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Clean &amp; Normalize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9"/>
          <p:cNvSpPr/>
          <p:nvPr/>
        </p:nvSpPr>
        <p:spPr>
          <a:xfrm>
            <a:off x="6263640" y="1920240"/>
            <a:ext cx="2468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clean_str(): lowercase,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strip specials,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collapse spaces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Shape 20"/>
          <p:cNvSpPr/>
          <p:nvPr/>
        </p:nvSpPr>
        <p:spPr>
          <a:xfrm>
            <a:off x="320040" y="2788920"/>
            <a:ext cx="2651400" cy="1782720"/>
          </a:xfrm>
          <a:prstGeom prst="rect">
            <a:avLst/>
          </a:prstGeom>
          <a:solidFill>
            <a:srgbClr val="1b2a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3" name="Shape 21"/>
          <p:cNvSpPr/>
          <p:nvPr/>
        </p:nvSpPr>
        <p:spPr>
          <a:xfrm>
            <a:off x="1325880" y="2862000"/>
            <a:ext cx="639720" cy="639720"/>
          </a:xfrm>
          <a:prstGeom prst="ellipse">
            <a:avLst/>
          </a:prstGeom>
          <a:solidFill>
            <a:srgbClr val="f59e0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22"/>
          <p:cNvSpPr/>
          <p:nvPr/>
        </p:nvSpPr>
        <p:spPr>
          <a:xfrm>
            <a:off x="1325880" y="28620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23"/>
          <p:cNvSpPr/>
          <p:nvPr/>
        </p:nvSpPr>
        <p:spPr>
          <a:xfrm>
            <a:off x="320040" y="356616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N-gram Tokenize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24"/>
          <p:cNvSpPr/>
          <p:nvPr/>
        </p:nvSpPr>
        <p:spPr>
          <a:xfrm>
            <a:off x="411480" y="3931920"/>
            <a:ext cx="2468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Slide window of 3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consecutive words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= one gram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7" name="Shape 25"/>
          <p:cNvSpPr/>
          <p:nvPr/>
        </p:nvSpPr>
        <p:spPr>
          <a:xfrm>
            <a:off x="2971800" y="3675600"/>
            <a:ext cx="274320" cy="360"/>
          </a:xfrm>
          <a:prstGeom prst="line">
            <a:avLst/>
          </a:prstGeom>
          <a:ln w="254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Shape 26"/>
          <p:cNvSpPr/>
          <p:nvPr/>
        </p:nvSpPr>
        <p:spPr>
          <a:xfrm>
            <a:off x="3246120" y="2788920"/>
            <a:ext cx="2651400" cy="1782720"/>
          </a:xfrm>
          <a:prstGeom prst="rect">
            <a:avLst/>
          </a:prstGeom>
          <a:solidFill>
            <a:srgbClr val="1b2a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9" name="Shape 27"/>
          <p:cNvSpPr/>
          <p:nvPr/>
        </p:nvSpPr>
        <p:spPr>
          <a:xfrm>
            <a:off x="4251960" y="2862000"/>
            <a:ext cx="639720" cy="639720"/>
          </a:xfrm>
          <a:prstGeom prst="ellipse">
            <a:avLst/>
          </a:prstGeom>
          <a:solidFill>
            <a:srgbClr val="84cc1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Text 28"/>
          <p:cNvSpPr/>
          <p:nvPr/>
        </p:nvSpPr>
        <p:spPr>
          <a:xfrm>
            <a:off x="4251960" y="28620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29"/>
          <p:cNvSpPr/>
          <p:nvPr/>
        </p:nvSpPr>
        <p:spPr>
          <a:xfrm>
            <a:off x="3246120" y="356616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Compare Grams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30"/>
          <p:cNvSpPr/>
          <p:nvPr/>
        </p:nvSpPr>
        <p:spPr>
          <a:xfrm>
            <a:off x="3337560" y="3931920"/>
            <a:ext cx="2468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Match grams from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file A vs file B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with used[] array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Shape 31"/>
          <p:cNvSpPr/>
          <p:nvPr/>
        </p:nvSpPr>
        <p:spPr>
          <a:xfrm>
            <a:off x="5897880" y="3675600"/>
            <a:ext cx="274320" cy="360"/>
          </a:xfrm>
          <a:prstGeom prst="line">
            <a:avLst/>
          </a:prstGeom>
          <a:ln w="25400">
            <a:solidFill>
              <a:srgbClr val="0d9488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Shape 32"/>
          <p:cNvSpPr/>
          <p:nvPr/>
        </p:nvSpPr>
        <p:spPr>
          <a:xfrm>
            <a:off x="6172200" y="2788920"/>
            <a:ext cx="2651400" cy="1782720"/>
          </a:xfrm>
          <a:prstGeom prst="rect">
            <a:avLst/>
          </a:prstGeom>
          <a:solidFill>
            <a:srgbClr val="1b2a3b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Shape 33"/>
          <p:cNvSpPr/>
          <p:nvPr/>
        </p:nvSpPr>
        <p:spPr>
          <a:xfrm>
            <a:off x="7178040" y="2862000"/>
            <a:ext cx="639720" cy="639720"/>
          </a:xfrm>
          <a:prstGeom prst="ellipse">
            <a:avLst/>
          </a:prstGeom>
          <a:solidFill>
            <a:srgbClr val="fb923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34"/>
          <p:cNvSpPr/>
          <p:nvPr/>
        </p:nvSpPr>
        <p:spPr>
          <a:xfrm>
            <a:off x="7178040" y="2862000"/>
            <a:ext cx="6397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6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35"/>
          <p:cNvSpPr/>
          <p:nvPr/>
        </p:nvSpPr>
        <p:spPr>
          <a:xfrm>
            <a:off x="6172200" y="3566160"/>
            <a:ext cx="265140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3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Dice Similarity</a:t>
            </a:r>
            <a:endParaRPr b="0" lang="en-US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36"/>
          <p:cNvSpPr/>
          <p:nvPr/>
        </p:nvSpPr>
        <p:spPr>
          <a:xfrm>
            <a:off x="6263640" y="3931920"/>
            <a:ext cx="24685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score = 2×match /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(g1+g2) × 100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5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returned as %</a:t>
            </a:r>
            <a:endParaRPr b="0" lang="en-US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Shape 37"/>
          <p:cNvSpPr/>
          <p:nvPr/>
        </p:nvSpPr>
        <p:spPr>
          <a:xfrm>
            <a:off x="457200" y="4681800"/>
            <a:ext cx="8229240" cy="365400"/>
          </a:xfrm>
          <a:prstGeom prst="rect">
            <a:avLst/>
          </a:prstGeom>
          <a:solidFill>
            <a:srgbClr val="0d9488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38"/>
          <p:cNvSpPr/>
          <p:nvPr/>
        </p:nvSpPr>
        <p:spPr>
          <a:xfrm>
            <a:off x="457200" y="4681800"/>
            <a:ext cx="8229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Dice Coefficient:  similarity = (2 × matching_ngrams) / (total_ngrams_A + total_ngrams_B) × 100%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Shape 1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3" name="Text 2"/>
          <p:cNvSpPr/>
          <p:nvPr/>
        </p:nvSpPr>
        <p:spPr>
          <a:xfrm>
            <a:off x="457200" y="64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File &amp; Directory Structure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Shape 3"/>
          <p:cNvSpPr/>
          <p:nvPr/>
        </p:nvSpPr>
        <p:spPr>
          <a:xfrm>
            <a:off x="274320" y="731520"/>
            <a:ext cx="4114440" cy="4251600"/>
          </a:xfrm>
          <a:prstGeom prst="rect">
            <a:avLst/>
          </a:prstGeom>
          <a:solidFill>
            <a:srgbClr val="0d1b2a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4"/>
          <p:cNvSpPr/>
          <p:nvPr/>
        </p:nvSpPr>
        <p:spPr>
          <a:xfrm>
            <a:off x="457200" y="822960"/>
            <a:ext cx="3748680" cy="4023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LMS/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├── main.cpp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├── auth/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│   ├── auth.cpp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│   └── auth.h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├── user/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│   ├── User.cpp / .h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│   ├── admin.cpp / .h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│   ├── teacher.cpp / .h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│   └── student.cpp / .h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├── pleg/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│   ├── input.c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│   ├── logic.c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│   ├── main.c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│   ├── plageng.cpp / .h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│   └── plagiarism.h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├── data/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│   ├── users.txt  course.txt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│   ├── enrollments.txt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│   └── submission.txt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00" strike="noStrike" u="none">
                <a:solidFill>
                  <a:srgbClr val="14b8a6"/>
                </a:solidFill>
                <a:effectLst/>
                <a:uFillTx/>
                <a:latin typeface="Consolas"/>
                <a:ea typeface="Consolas"/>
              </a:rPr>
              <a:t>└── submission/   (files)</a:t>
            </a:r>
            <a:endParaRPr b="0" lang="en-US" sz="1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Text 5"/>
          <p:cNvSpPr/>
          <p:nvPr/>
        </p:nvSpPr>
        <p:spPr>
          <a:xfrm>
            <a:off x="4663440" y="777240"/>
            <a:ext cx="411444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400" strike="noStrike" u="none">
                <a:solidFill>
                  <a:srgbClr val="0d1b2a"/>
                </a:solidFill>
                <a:effectLst/>
                <a:uFillTx/>
                <a:latin typeface="Calibri"/>
                <a:ea typeface="Calibri"/>
              </a:rPr>
              <a:t>Data File Schemas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Shape 6"/>
          <p:cNvSpPr/>
          <p:nvPr/>
        </p:nvSpPr>
        <p:spPr>
          <a:xfrm>
            <a:off x="4663440" y="1280160"/>
            <a:ext cx="4114440" cy="502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7"/>
          <p:cNvSpPr/>
          <p:nvPr/>
        </p:nvSpPr>
        <p:spPr>
          <a:xfrm>
            <a:off x="4709160" y="128016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9488"/>
                </a:solidFill>
                <a:effectLst/>
                <a:uFillTx/>
                <a:latin typeface="Consolas"/>
                <a:ea typeface="Consolas"/>
              </a:rPr>
              <a:t>users.txt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8"/>
          <p:cNvSpPr/>
          <p:nvPr/>
        </p:nvSpPr>
        <p:spPr>
          <a:xfrm>
            <a:off x="6400800" y="128016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username password role  (space-separated)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Shape 9"/>
          <p:cNvSpPr/>
          <p:nvPr/>
        </p:nvSpPr>
        <p:spPr>
          <a:xfrm>
            <a:off x="4663440" y="1847160"/>
            <a:ext cx="4114440" cy="50256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10"/>
          <p:cNvSpPr/>
          <p:nvPr/>
        </p:nvSpPr>
        <p:spPr>
          <a:xfrm>
            <a:off x="4709160" y="184716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9488"/>
                </a:solidFill>
                <a:effectLst/>
                <a:uFillTx/>
                <a:latin typeface="Consolas"/>
                <a:ea typeface="Consolas"/>
              </a:rPr>
              <a:t>course.txt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11"/>
          <p:cNvSpPr/>
          <p:nvPr/>
        </p:nvSpPr>
        <p:spPr>
          <a:xfrm>
            <a:off x="6400800" y="184716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courseID|courseName|teacherName  (pipe)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Shape 12"/>
          <p:cNvSpPr/>
          <p:nvPr/>
        </p:nvSpPr>
        <p:spPr>
          <a:xfrm>
            <a:off x="4663440" y="2414160"/>
            <a:ext cx="4114440" cy="502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3"/>
          <p:cNvSpPr/>
          <p:nvPr/>
        </p:nvSpPr>
        <p:spPr>
          <a:xfrm>
            <a:off x="4709160" y="241416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9488"/>
                </a:solidFill>
                <a:effectLst/>
                <a:uFillTx/>
                <a:latin typeface="Consolas"/>
                <a:ea typeface="Consolas"/>
              </a:rPr>
              <a:t>enrollments.txt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4"/>
          <p:cNvSpPr/>
          <p:nvPr/>
        </p:nvSpPr>
        <p:spPr>
          <a:xfrm>
            <a:off x="6400800" y="241416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username|courseID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Shape 15"/>
          <p:cNvSpPr/>
          <p:nvPr/>
        </p:nvSpPr>
        <p:spPr>
          <a:xfrm>
            <a:off x="4663440" y="2980800"/>
            <a:ext cx="4114440" cy="50256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6"/>
          <p:cNvSpPr/>
          <p:nvPr/>
        </p:nvSpPr>
        <p:spPr>
          <a:xfrm>
            <a:off x="4709160" y="298080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9488"/>
                </a:solidFill>
                <a:effectLst/>
                <a:uFillTx/>
                <a:latin typeface="Consolas"/>
                <a:ea typeface="Consolas"/>
              </a:rPr>
              <a:t>assignments.txt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7"/>
          <p:cNvSpPr/>
          <p:nvPr/>
        </p:nvSpPr>
        <p:spPr>
          <a:xfrm>
            <a:off x="6400800" y="298080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courseID|assignmentTitle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9" name="Shape 18"/>
          <p:cNvSpPr/>
          <p:nvPr/>
        </p:nvSpPr>
        <p:spPr>
          <a:xfrm>
            <a:off x="4663440" y="3547800"/>
            <a:ext cx="4114440" cy="50256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9"/>
          <p:cNvSpPr/>
          <p:nvPr/>
        </p:nvSpPr>
        <p:spPr>
          <a:xfrm>
            <a:off x="4709160" y="354780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9488"/>
                </a:solidFill>
                <a:effectLst/>
                <a:uFillTx/>
                <a:latin typeface="Consolas"/>
                <a:ea typeface="Consolas"/>
              </a:rPr>
              <a:t>submission.txt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0"/>
          <p:cNvSpPr/>
          <p:nvPr/>
        </p:nvSpPr>
        <p:spPr>
          <a:xfrm>
            <a:off x="6400800" y="354780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user|course|assign|path|plag|marks|feedback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21"/>
          <p:cNvSpPr/>
          <p:nvPr/>
        </p:nvSpPr>
        <p:spPr>
          <a:xfrm>
            <a:off x="4663440" y="4114800"/>
            <a:ext cx="4114440" cy="502560"/>
          </a:xfrm>
          <a:prstGeom prst="rect">
            <a:avLst/>
          </a:prstGeom>
          <a:solidFill>
            <a:srgbClr val="e2e8f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22"/>
          <p:cNvSpPr/>
          <p:nvPr/>
        </p:nvSpPr>
        <p:spPr>
          <a:xfrm>
            <a:off x="4709160" y="4114800"/>
            <a:ext cx="1645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0d9488"/>
                </a:solidFill>
                <a:effectLst/>
                <a:uFillTx/>
                <a:latin typeface="Consolas"/>
                <a:ea typeface="Consolas"/>
              </a:rPr>
              <a:t>query.txt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23"/>
          <p:cNvSpPr/>
          <p:nvPr/>
        </p:nvSpPr>
        <p:spPr>
          <a:xfrm>
            <a:off x="6400800" y="4114800"/>
            <a:ext cx="23313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5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student|courseID|question|answer</a:t>
            </a:r>
            <a:endParaRPr b="0" lang="en-US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f1f5f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Shape 1"/>
          <p:cNvSpPr/>
          <p:nvPr/>
        </p:nvSpPr>
        <p:spPr>
          <a:xfrm>
            <a:off x="0" y="0"/>
            <a:ext cx="9143640" cy="59400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2"/>
          <p:cNvSpPr/>
          <p:nvPr/>
        </p:nvSpPr>
        <p:spPr>
          <a:xfrm>
            <a:off x="457200" y="64080"/>
            <a:ext cx="8229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Feature Summary by Role</a:t>
            </a:r>
            <a:endParaRPr b="0" lang="en-US" sz="2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Shape 3"/>
          <p:cNvSpPr/>
          <p:nvPr/>
        </p:nvSpPr>
        <p:spPr>
          <a:xfrm>
            <a:off x="274320" y="731520"/>
            <a:ext cx="2742840" cy="4251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Shape 4"/>
          <p:cNvSpPr/>
          <p:nvPr/>
        </p:nvSpPr>
        <p:spPr>
          <a:xfrm>
            <a:off x="274320" y="731520"/>
            <a:ext cx="2742840" cy="45684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5"/>
          <p:cNvSpPr/>
          <p:nvPr/>
        </p:nvSpPr>
        <p:spPr>
          <a:xfrm>
            <a:off x="274320" y="7315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Admin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6"/>
          <p:cNvSpPr/>
          <p:nvPr/>
        </p:nvSpPr>
        <p:spPr>
          <a:xfrm>
            <a:off x="411480" y="1280160"/>
            <a:ext cx="246852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✓  Add / View / Delete users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✓  Add courses to the system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✓  View all courses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✓  Assign teacher to a course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✓  Post global announcements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Shape 7"/>
          <p:cNvSpPr/>
          <p:nvPr/>
        </p:nvSpPr>
        <p:spPr>
          <a:xfrm>
            <a:off x="3200400" y="731520"/>
            <a:ext cx="2742840" cy="4251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Shape 8"/>
          <p:cNvSpPr/>
          <p:nvPr/>
        </p:nvSpPr>
        <p:spPr>
          <a:xfrm>
            <a:off x="3200400" y="731520"/>
            <a:ext cx="2742840" cy="45684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9"/>
          <p:cNvSpPr/>
          <p:nvPr/>
        </p:nvSpPr>
        <p:spPr>
          <a:xfrm>
            <a:off x="3200400" y="7315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Teacher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5" name="Text 10"/>
          <p:cNvSpPr/>
          <p:nvPr/>
        </p:nvSpPr>
        <p:spPr>
          <a:xfrm>
            <a:off x="3337560" y="1280160"/>
            <a:ext cx="246852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✓  View assigned courses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✓  Create assignments per course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✓  View all submissions + plag%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✓  Open &amp; grade submissions (xdg-open)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✓  Answer student queries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✓  Post course announcements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Shape 11"/>
          <p:cNvSpPr/>
          <p:nvPr/>
        </p:nvSpPr>
        <p:spPr>
          <a:xfrm>
            <a:off x="6126480" y="731520"/>
            <a:ext cx="2742840" cy="4251600"/>
          </a:xfrm>
          <a:prstGeom prst="rect">
            <a:avLst/>
          </a:prstGeom>
          <a:solidFill>
            <a:srgbClr val="ffffff"/>
          </a:solidFill>
          <a:ln w="0">
            <a:noFill/>
          </a:ln>
          <a:effectLst>
            <a:outerShdw algn="bl" blurRad="101520" dir="8100000" dist="37674" kx="0" ky="0" rotWithShape="0" sx="100000" sy="100000">
              <a:srgbClr val="000000">
                <a:alpha val="12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Shape 12"/>
          <p:cNvSpPr/>
          <p:nvPr/>
        </p:nvSpPr>
        <p:spPr>
          <a:xfrm>
            <a:off x="6126480" y="731520"/>
            <a:ext cx="2742840" cy="456840"/>
          </a:xfrm>
          <a:prstGeom prst="rect">
            <a:avLst/>
          </a:prstGeom>
          <a:solidFill>
            <a:srgbClr val="6366f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8" name="Text 13"/>
          <p:cNvSpPr/>
          <p:nvPr/>
        </p:nvSpPr>
        <p:spPr>
          <a:xfrm>
            <a:off x="6126480" y="731520"/>
            <a:ext cx="27428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6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Student</a:t>
            </a:r>
            <a:endParaRPr b="0" lang="en-US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14"/>
          <p:cNvSpPr/>
          <p:nvPr/>
        </p:nvSpPr>
        <p:spPr>
          <a:xfrm>
            <a:off x="6263640" y="1280160"/>
            <a:ext cx="246852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✓  Browse &amp; enroll in courses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✓  View available assignments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✓  Submit files (zenity picker)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✓  Auto-plagiarism check on submit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✓  View marks &amp; class stats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50" strike="noStrike" u="none">
                <a:solidFill>
                  <a:srgbClr val="1b2a3b"/>
                </a:solidFill>
                <a:effectLst/>
                <a:uFillTx/>
                <a:latin typeface="Calibri"/>
                <a:ea typeface="Calibri"/>
              </a:rPr>
              <a:t>✓  Ask queries → view answers</a:t>
            </a:r>
            <a:endParaRPr b="0" lang="en-US" sz="11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Shape 0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d1b2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1" name="Shape 1"/>
          <p:cNvSpPr/>
          <p:nvPr/>
        </p:nvSpPr>
        <p:spPr>
          <a:xfrm>
            <a:off x="0" y="0"/>
            <a:ext cx="9143640" cy="727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2" name="Shape 2"/>
          <p:cNvSpPr/>
          <p:nvPr/>
        </p:nvSpPr>
        <p:spPr>
          <a:xfrm>
            <a:off x="0" y="5070240"/>
            <a:ext cx="9143640" cy="72720"/>
          </a:xfrm>
          <a:prstGeom prst="rect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28080" bIns="2808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3"/>
          <p:cNvSpPr/>
          <p:nvPr/>
        </p:nvSpPr>
        <p:spPr>
          <a:xfrm>
            <a:off x="548640" y="274320"/>
            <a:ext cx="804636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32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Key Takeaways</a:t>
            </a:r>
            <a:endParaRPr b="0" lang="en-US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Shape 4"/>
          <p:cNvSpPr/>
          <p:nvPr/>
        </p:nvSpPr>
        <p:spPr>
          <a:xfrm>
            <a:off x="365760" y="1143000"/>
            <a:ext cx="347040" cy="34704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5"/>
          <p:cNvSpPr/>
          <p:nvPr/>
        </p:nvSpPr>
        <p:spPr>
          <a:xfrm>
            <a:off x="365760" y="114300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1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6"/>
          <p:cNvSpPr/>
          <p:nvPr/>
        </p:nvSpPr>
        <p:spPr>
          <a:xfrm>
            <a:off x="868680" y="105156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OOP Done Right: 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7"/>
          <p:cNvSpPr/>
          <p:nvPr/>
        </p:nvSpPr>
        <p:spPr>
          <a:xfrm>
            <a:off x="2697480" y="1051560"/>
            <a:ext cx="6126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Inheritance hierarchy (User → Admin/Teacher/Student) + polymorphic dispatch through pure virtual menu().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Shape 8"/>
          <p:cNvSpPr/>
          <p:nvPr/>
        </p:nvSpPr>
        <p:spPr>
          <a:xfrm>
            <a:off x="365760" y="1911240"/>
            <a:ext cx="347040" cy="34704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9"/>
          <p:cNvSpPr/>
          <p:nvPr/>
        </p:nvSpPr>
        <p:spPr>
          <a:xfrm>
            <a:off x="365760" y="19112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2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0"/>
          <p:cNvSpPr/>
          <p:nvPr/>
        </p:nvSpPr>
        <p:spPr>
          <a:xfrm>
            <a:off x="868680" y="181980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Cross-Language Integration: 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1" name="Text 11"/>
          <p:cNvSpPr/>
          <p:nvPr/>
        </p:nvSpPr>
        <p:spPr>
          <a:xfrm>
            <a:off x="2697480" y="1819800"/>
            <a:ext cx="6126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C plagiarism engine linked into C++ via extern "C" — real-world mixed-language project.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2" name="Shape 12"/>
          <p:cNvSpPr/>
          <p:nvPr/>
        </p:nvSpPr>
        <p:spPr>
          <a:xfrm>
            <a:off x="365760" y="2679120"/>
            <a:ext cx="347040" cy="34704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3" name="Text 13"/>
          <p:cNvSpPr/>
          <p:nvPr/>
        </p:nvSpPr>
        <p:spPr>
          <a:xfrm>
            <a:off x="365760" y="267912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3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4" name="Text 14"/>
          <p:cNvSpPr/>
          <p:nvPr/>
        </p:nvSpPr>
        <p:spPr>
          <a:xfrm>
            <a:off x="868680" y="258768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Modular Architecture: 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5" name="Text 15"/>
          <p:cNvSpPr/>
          <p:nvPr/>
        </p:nvSpPr>
        <p:spPr>
          <a:xfrm>
            <a:off x="2697480" y="2587680"/>
            <a:ext cx="6126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auth / user / pleg separated into modules with clear responsibilities; easy to extend.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Shape 16"/>
          <p:cNvSpPr/>
          <p:nvPr/>
        </p:nvSpPr>
        <p:spPr>
          <a:xfrm>
            <a:off x="365760" y="3447360"/>
            <a:ext cx="347040" cy="34704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17" name="Text 17"/>
          <p:cNvSpPr/>
          <p:nvPr/>
        </p:nvSpPr>
        <p:spPr>
          <a:xfrm>
            <a:off x="365760" y="344736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4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8" name="Text 18"/>
          <p:cNvSpPr/>
          <p:nvPr/>
        </p:nvSpPr>
        <p:spPr>
          <a:xfrm>
            <a:off x="868680" y="335592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Functional Plagiarism: 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Text 19"/>
          <p:cNvSpPr/>
          <p:nvPr/>
        </p:nvSpPr>
        <p:spPr>
          <a:xfrm>
            <a:off x="2697480" y="3355920"/>
            <a:ext cx="6126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N-gram + Dice similarity produces a percentage score for every student submission automatically.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0" name="Shape 20"/>
          <p:cNvSpPr/>
          <p:nvPr/>
        </p:nvSpPr>
        <p:spPr>
          <a:xfrm>
            <a:off x="365760" y="4215240"/>
            <a:ext cx="347040" cy="347040"/>
          </a:xfrm>
          <a:prstGeom prst="ellipse">
            <a:avLst/>
          </a:prstGeom>
          <a:solidFill>
            <a:srgbClr val="0d948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80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1" name="Text 21"/>
          <p:cNvSpPr/>
          <p:nvPr/>
        </p:nvSpPr>
        <p:spPr>
          <a:xfrm>
            <a:off x="365760" y="4215240"/>
            <a:ext cx="347040" cy="347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100" strike="noStrike" u="none">
                <a:solidFill>
                  <a:srgbClr val="ffffff"/>
                </a:solidFill>
                <a:effectLst/>
                <a:uFillTx/>
                <a:latin typeface="Calibri"/>
                <a:ea typeface="Calibri"/>
              </a:rPr>
              <a:t>5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Text 22"/>
          <p:cNvSpPr/>
          <p:nvPr/>
        </p:nvSpPr>
        <p:spPr>
          <a:xfrm>
            <a:off x="868680" y="4123800"/>
            <a:ext cx="1828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14b8a6"/>
                </a:solidFill>
                <a:effectLst/>
                <a:uFillTx/>
                <a:latin typeface="Calibri"/>
                <a:ea typeface="Calibri"/>
              </a:rPr>
              <a:t>Persistent State:  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3" name="Text 23"/>
          <p:cNvSpPr/>
          <p:nvPr/>
        </p:nvSpPr>
        <p:spPr>
          <a:xfrm>
            <a:off x="2697480" y="4123800"/>
            <a:ext cx="61261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e2e8f0"/>
                </a:solidFill>
                <a:effectLst/>
                <a:uFillTx/>
                <a:latin typeface="Calibri"/>
                <a:ea typeface="Calibri"/>
              </a:rPr>
              <a:t>All data survives process restarts via plain-text file I/O with consistent pipe-delimited schemas.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4" name="Text 24"/>
          <p:cNvSpPr/>
          <p:nvPr/>
        </p:nvSpPr>
        <p:spPr>
          <a:xfrm>
            <a:off x="457200" y="4754880"/>
            <a:ext cx="82292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100" strike="noStrike" u="none">
                <a:solidFill>
                  <a:srgbClr val="64748b"/>
                </a:solidFill>
                <a:effectLst/>
                <a:uFillTx/>
                <a:latin typeface="Calibri"/>
                <a:ea typeface="Calibri"/>
              </a:rPr>
              <a:t>FAST NUCES Peshawar  •  OOP Final Project  •  C++</a:t>
            </a:r>
            <a:endParaRPr b="0" lang="en-US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</TotalTime>
  <Application>LibreOffice/25.8.1.1$Linux_X86_64 LibreOffice_project/580$Build-1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2026-05-13T05:48:04Z</dcterms:created>
  <dc:creator>PptxGenJS</dc:creator>
  <dc:description/>
  <dc:language>en-US</dc:language>
  <cp:lastModifiedBy/>
  <dcterms:modified xsi:type="dcterms:W3CDTF">2026-05-13T01:59:23Z</dcterms:modified>
  <cp:revision>2</cp:revision>
  <dc:subject>PptxGenJS Presentation</dc:subject>
  <dc:title>LMS with Plagiarism Detection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</vt:i4>
  </property>
  <property fmtid="{D5CDD505-2E9C-101B-9397-08002B2CF9AE}" pid="3" name="PresentationFormat">
    <vt:lpwstr>On-screen Show (16:9)</vt:lpwstr>
  </property>
  <property fmtid="{D5CDD505-2E9C-101B-9397-08002B2CF9AE}" pid="4" name="Slides">
    <vt:i4>10</vt:i4>
  </property>
</Properties>
</file>